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ExtraLight"/>
      <p:regular r:id="rId24"/>
      <p:bold r:id="rId25"/>
      <p:italic r:id="rId26"/>
      <p:boldItalic r:id="rId27"/>
    </p:embeddedFont>
    <p:embeddedFont>
      <p:font typeface="Roboto Medium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Roboto Light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ExtraLigh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ExtraLight-italic.fntdata"/><Relationship Id="rId25" Type="http://schemas.openxmlformats.org/officeDocument/2006/relationships/font" Target="fonts/RobotoExtraLight-bold.fntdata"/><Relationship Id="rId28" Type="http://schemas.openxmlformats.org/officeDocument/2006/relationships/font" Target="fonts/RobotoMedium-regular.fntdata"/><Relationship Id="rId27" Type="http://schemas.openxmlformats.org/officeDocument/2006/relationships/font" Target="fonts/RobotoExtra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boldItalic.fntdata"/><Relationship Id="rId30" Type="http://schemas.openxmlformats.org/officeDocument/2006/relationships/font" Target="fonts/RobotoMedium-italic.fntdata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RobotoLight-bold.fntdata"/><Relationship Id="rId14" Type="http://schemas.openxmlformats.org/officeDocument/2006/relationships/slide" Target="slides/slide9.xml"/><Relationship Id="rId36" Type="http://schemas.openxmlformats.org/officeDocument/2006/relationships/font" Target="fonts/RobotoLight-regular.fntdata"/><Relationship Id="rId17" Type="http://schemas.openxmlformats.org/officeDocument/2006/relationships/slide" Target="slides/slide12.xml"/><Relationship Id="rId39" Type="http://schemas.openxmlformats.org/officeDocument/2006/relationships/font" Target="fonts/RobotoLight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Ligh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e24c3b1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e24c3b1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6e24c3b17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6e24c3b17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Look at Magist’s total revenue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~ 13.6M€ total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roughly 1.84M€ is made out of tech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Tech is ~ 14%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6e24c3b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6e24c3b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Out of all categories 8 were put into the “tech” category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8 tech compared to the top 8 non-tech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There is a ~50% difference between the 8th placed non-tech and 2nd onwards tech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e24c3b17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6e24c3b17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6e24c3b1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6e24c3b1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e24c3b17_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6e24c3b17_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6e24c3b1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6e24c3b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6e24c3b1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6e24c3b1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6e24c3b1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6e24c3b1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6e24c3b1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6e24c3b1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e24c3b17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6e24c3b17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6e24c3b1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6e24c3b1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6e24c3b1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6e24c3b1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6e24c3b1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6e24c3b1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6e24c3b1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6e24c3b1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e24c3b1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6e24c3b1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e24c3b1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6e24c3b1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Roboto Light"/>
              <a:buNone/>
              <a:defRPr sz="25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5600" y="-62800"/>
            <a:ext cx="9269601" cy="5508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0" y="690819"/>
            <a:ext cx="8520600" cy="18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36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Business Partner Analysis</a:t>
            </a:r>
            <a:endParaRPr sz="36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36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with </a:t>
            </a:r>
            <a:r>
              <a:rPr i="1" lang="tr" sz="36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“Magist”</a:t>
            </a:r>
            <a:r>
              <a:rPr lang="tr" sz="36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 </a:t>
            </a:r>
            <a:endParaRPr sz="36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25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by Eniac</a:t>
            </a:r>
            <a:endParaRPr sz="25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894525" y="3173340"/>
            <a:ext cx="63849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80"/>
              <a:buFont typeface="Roboto Light"/>
              <a:buAutoNum type="romanUcPeriod"/>
            </a:pPr>
            <a:r>
              <a:rPr lang="tr" sz="138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Is Magist a good partner for our high-end tech products?</a:t>
            </a:r>
            <a:endParaRPr sz="138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1623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80"/>
              <a:buFont typeface="Roboto Light"/>
              <a:buAutoNum type="romanUcPeriod"/>
            </a:pPr>
            <a:r>
              <a:rPr lang="tr" sz="138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Are their deliveries fast enough?</a:t>
            </a:r>
            <a:endParaRPr sz="138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57" name="Google Shape;57;p13"/>
          <p:cNvCxnSpPr/>
          <p:nvPr/>
        </p:nvCxnSpPr>
        <p:spPr>
          <a:xfrm>
            <a:off x="1894525" y="2828527"/>
            <a:ext cx="5809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13"/>
          <p:cNvSpPr txBox="1"/>
          <p:nvPr/>
        </p:nvSpPr>
        <p:spPr>
          <a:xfrm>
            <a:off x="237450" y="4452552"/>
            <a:ext cx="866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Group II / Robert Rommel – Murat Tüter – David Nutz – Sharon Schwaab </a:t>
            </a:r>
            <a:endParaRPr sz="1100">
              <a:solidFill>
                <a:schemeClr val="lt1"/>
              </a:solidFill>
            </a:endParaRPr>
          </a:p>
        </p:txBody>
      </p:sp>
      <p:pic>
        <p:nvPicPr>
          <p:cNvPr id="59" name="Google Shape;59;p13" title="ChatGPT Image 13. Aug. 2026, 11_13_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8625" y="3790400"/>
            <a:ext cx="1227826" cy="122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ctrTitle"/>
          </p:nvPr>
        </p:nvSpPr>
        <p:spPr>
          <a:xfrm>
            <a:off x="311700" y="32873"/>
            <a:ext cx="8520600" cy="8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latin typeface="Roboto Light"/>
                <a:ea typeface="Roboto Light"/>
                <a:cs typeface="Roboto Light"/>
                <a:sym typeface="Roboto Light"/>
              </a:rPr>
              <a:t>Is Magist a good business partner for us?</a:t>
            </a:r>
            <a:endParaRPr sz="3000"/>
          </a:p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921100" y="1254000"/>
            <a:ext cx="7253700" cy="33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Based on our research, we recommend a </a:t>
            </a:r>
            <a:r>
              <a:rPr lang="tr" sz="12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reassessment</a:t>
            </a:r>
            <a:r>
              <a:rPr lang="tr" sz="12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in 6 months for the partnership, based the following points:</a:t>
            </a:r>
            <a:endParaRPr sz="12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Light"/>
              <a:buChar char="●"/>
            </a:pPr>
            <a:r>
              <a:rPr lang="tr" sz="12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Magist </a:t>
            </a:r>
            <a:r>
              <a:rPr lang="tr" sz="12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does not have a big market for expensive tech products </a:t>
            </a:r>
            <a:r>
              <a:rPr lang="tr" sz="12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right now</a:t>
            </a:r>
            <a:endParaRPr sz="12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Light"/>
              <a:buChar char="●"/>
            </a:pPr>
            <a:r>
              <a:rPr lang="tr" sz="12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Delivery reliability remains a potential operational risk</a:t>
            </a:r>
            <a:r>
              <a:rPr lang="tr" sz="12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 because delayed orders experience substantial delays. </a:t>
            </a:r>
            <a:endParaRPr sz="25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 title="ChatGPT Image 13. Aug. 2026, 11_13_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744" y="4348731"/>
            <a:ext cx="622526" cy="6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260" y="314010"/>
            <a:ext cx="4024926" cy="447989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942425" y="1402813"/>
            <a:ext cx="37002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tr" sz="1100">
                <a:latin typeface="Roboto Light"/>
                <a:ea typeface="Roboto Light"/>
                <a:cs typeface="Roboto Light"/>
                <a:sym typeface="Roboto Light"/>
              </a:rPr>
              <a:t>€</a:t>
            </a:r>
            <a:r>
              <a:rPr lang="tr" sz="1100">
                <a:latin typeface="Roboto Light"/>
                <a:ea typeface="Roboto Light"/>
                <a:cs typeface="Roboto Light"/>
                <a:sym typeface="Roboto Light"/>
              </a:rPr>
              <a:t>13.6M total revenue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tr" sz="1100">
                <a:latin typeface="Roboto Light"/>
                <a:ea typeface="Roboto Light"/>
                <a:cs typeface="Roboto Light"/>
                <a:sym typeface="Roboto Light"/>
              </a:rPr>
              <a:t>€1.84M from tech products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tr" sz="1100">
                <a:latin typeface="Roboto Light"/>
                <a:ea typeface="Roboto Light"/>
                <a:cs typeface="Roboto Light"/>
                <a:sym typeface="Roboto Light"/>
              </a:rPr>
              <a:t>86% of revenue comes from non-tech products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621125" y="371750"/>
            <a:ext cx="43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Revenue </a:t>
            </a:r>
            <a:r>
              <a:rPr lang="tr" sz="18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rPr>
              <a:t>Tech</a:t>
            </a:r>
            <a:r>
              <a:rPr lang="tr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vs </a:t>
            </a:r>
            <a:r>
              <a:rPr lang="tr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Non-Tech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4" name="Google Shape;74;p15"/>
          <p:cNvCxnSpPr/>
          <p:nvPr/>
        </p:nvCxnSpPr>
        <p:spPr>
          <a:xfrm>
            <a:off x="5375475" y="3136245"/>
            <a:ext cx="28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" name="Google Shape;75;p15"/>
          <p:cNvSpPr/>
          <p:nvPr/>
        </p:nvSpPr>
        <p:spPr>
          <a:xfrm>
            <a:off x="6737775" y="3297814"/>
            <a:ext cx="109500" cy="18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4621125" y="3809225"/>
            <a:ext cx="434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Tech products</a:t>
            </a:r>
            <a:r>
              <a:rPr lang="tr" sz="1100">
                <a:latin typeface="Roboto Medium"/>
                <a:ea typeface="Roboto Medium"/>
                <a:cs typeface="Roboto Medium"/>
                <a:sym typeface="Roboto Medium"/>
              </a:rPr>
              <a:t> contribute </a:t>
            </a:r>
            <a:r>
              <a:rPr lang="tr" sz="1100" u="sng">
                <a:latin typeface="Roboto Medium"/>
                <a:ea typeface="Roboto Medium"/>
                <a:cs typeface="Roboto Medium"/>
                <a:sym typeface="Roboto Medium"/>
              </a:rPr>
              <a:t>only 14%</a:t>
            </a:r>
            <a:r>
              <a:rPr lang="tr" sz="1100">
                <a:latin typeface="Roboto Medium"/>
                <a:ea typeface="Roboto Medium"/>
                <a:cs typeface="Roboto Medium"/>
                <a:sym typeface="Roboto Medium"/>
              </a:rPr>
              <a:t> of total revenue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77" name="Google Shape;77;p15" title="ChatGPT Image 13. Aug. 2026, 11_13_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5744" y="4348731"/>
            <a:ext cx="622526" cy="6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24557"/>
            <a:ext cx="8534800" cy="31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237450" y="4253678"/>
            <a:ext cx="86691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Computer Accessories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is </a:t>
            </a:r>
            <a:r>
              <a:rPr lang="tr" sz="1100" u="sng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only tech category </a:t>
            </a: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competing with top non-tech sellers. </a:t>
            </a:r>
            <a:endParaRPr sz="1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All other tech categories generate &lt;50% of the revenue of the 8th-largest non-tech category.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311700" y="144561"/>
            <a:ext cx="86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rPr>
              <a:t>All </a:t>
            </a:r>
            <a:r>
              <a:rPr lang="tr" sz="1800">
                <a:solidFill>
                  <a:srgbClr val="FF9900"/>
                </a:solidFill>
                <a:latin typeface="Roboto Light"/>
                <a:ea typeface="Roboto Light"/>
                <a:cs typeface="Roboto Light"/>
                <a:sym typeface="Roboto Light"/>
              </a:rPr>
              <a:t>Tech categories</a:t>
            </a:r>
            <a:r>
              <a:rPr lang="tr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vs </a:t>
            </a:r>
            <a:r>
              <a:rPr lang="tr" sz="18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Top 8 Non-Tech Categories</a:t>
            </a:r>
            <a:endParaRPr sz="18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85" name="Google Shape;85;p16"/>
          <p:cNvCxnSpPr/>
          <p:nvPr/>
        </p:nvCxnSpPr>
        <p:spPr>
          <a:xfrm>
            <a:off x="3154950" y="3896172"/>
            <a:ext cx="28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6"/>
          <p:cNvSpPr/>
          <p:nvPr/>
        </p:nvSpPr>
        <p:spPr>
          <a:xfrm>
            <a:off x="4517250" y="4034255"/>
            <a:ext cx="109500" cy="18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 title="ChatGPT Image 13. Aug. 2026, 11_13_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5744" y="4348731"/>
            <a:ext cx="622526" cy="6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17223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666666"/>
                </a:solidFill>
              </a:rPr>
              <a:t>Non-Expensive vs Expensive Categories</a:t>
            </a:r>
            <a:endParaRPr sz="1800">
              <a:solidFill>
                <a:srgbClr val="E69138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39483"/>
            <a:ext cx="4464575" cy="396663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5126700" y="1092709"/>
            <a:ext cx="34704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Mag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ist performs </a:t>
            </a: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well in affordable Tech</a:t>
            </a:r>
            <a:endParaRPr sz="1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Expensive Tech shows significantly lower sales volume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This may indic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ate a weak fit for Eniac's premium iPhone-focused portfolio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Magist's </a:t>
            </a: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customer base appears more price-sensitive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than premium-oriented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126700" y="3856224"/>
            <a:ext cx="35397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P</a:t>
            </a: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remium Tech sells much less </a:t>
            </a:r>
            <a:endParaRPr sz="1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This creates a potential market-fit risk for Eniac.</a:t>
            </a:r>
            <a:r>
              <a:rPr lang="tr"/>
              <a:t> </a:t>
            </a:r>
            <a:endParaRPr/>
          </a:p>
        </p:txBody>
      </p:sp>
      <p:cxnSp>
        <p:nvCxnSpPr>
          <p:cNvPr id="96" name="Google Shape;96;p17"/>
          <p:cNvCxnSpPr/>
          <p:nvPr/>
        </p:nvCxnSpPr>
        <p:spPr>
          <a:xfrm>
            <a:off x="5444850" y="3311542"/>
            <a:ext cx="28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7"/>
          <p:cNvSpPr/>
          <p:nvPr/>
        </p:nvSpPr>
        <p:spPr>
          <a:xfrm>
            <a:off x="6807150" y="3473111"/>
            <a:ext cx="109500" cy="18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 title="ChatGPT Image 13. Aug. 2026, 11_13_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5744" y="4348731"/>
            <a:ext cx="622526" cy="6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50" y="624300"/>
            <a:ext cx="3365400" cy="2165492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04" name="Google Shape;104;p18"/>
          <p:cNvSpPr/>
          <p:nvPr/>
        </p:nvSpPr>
        <p:spPr>
          <a:xfrm>
            <a:off x="3866175" y="1883809"/>
            <a:ext cx="4972500" cy="134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3866175" y="652175"/>
            <a:ext cx="4972500" cy="113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925" y="2851525"/>
            <a:ext cx="3416974" cy="217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338450" y="67275"/>
            <a:ext cx="81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3D85C6"/>
                </a:solidFill>
                <a:latin typeface="Roboto Light"/>
                <a:ea typeface="Roboto Light"/>
                <a:cs typeface="Roboto Light"/>
                <a:sym typeface="Roboto Light"/>
              </a:rPr>
              <a:t>Sellers</a:t>
            </a:r>
            <a:r>
              <a:rPr lang="tr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vs </a:t>
            </a:r>
            <a:r>
              <a:rPr lang="tr" sz="18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rPr>
              <a:t>Orders</a:t>
            </a:r>
            <a:endParaRPr b="1" sz="1800">
              <a:solidFill>
                <a:schemeClr val="accent4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3775325" y="680825"/>
            <a:ext cx="49713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Magist shows steady increase on its seller base.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Total orders have shown a similar increase.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Orders stagneting after December 2017.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100" y="3086175"/>
            <a:ext cx="828675" cy="27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875" y="773050"/>
            <a:ext cx="829149" cy="2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3820750" y="1912759"/>
            <a:ext cx="49713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Tech sellers are growing similarly.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 sharp drop happening after the end of 2017 with no visible recovery.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An imbalance between sellers and buyers 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forming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up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Indicating an unhealthy competition for Eniac.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3908650" y="3854175"/>
            <a:ext cx="47955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Magist´s growth is driven by other categories and </a:t>
            </a:r>
            <a:r>
              <a:rPr b="1" lang="t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tech items are not a focus point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on the booming buyer base.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4843925" y="3444633"/>
            <a:ext cx="28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8"/>
          <p:cNvSpPr/>
          <p:nvPr/>
        </p:nvSpPr>
        <p:spPr>
          <a:xfrm>
            <a:off x="6206225" y="3645345"/>
            <a:ext cx="109500" cy="18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2856759" y="2449686"/>
            <a:ext cx="6771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700">
                <a:solidFill>
                  <a:schemeClr val="lt1"/>
                </a:solidFill>
              </a:rPr>
              <a:t>Aug. 2018</a:t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2836929" y="4577796"/>
            <a:ext cx="6771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700">
                <a:solidFill>
                  <a:schemeClr val="lt1"/>
                </a:solidFill>
              </a:rPr>
              <a:t>Aug. 2018</a:t>
            </a:r>
            <a:endParaRPr sz="700">
              <a:solidFill>
                <a:schemeClr val="lt1"/>
              </a:solidFill>
            </a:endParaRPr>
          </a:p>
        </p:txBody>
      </p:sp>
      <p:pic>
        <p:nvPicPr>
          <p:cNvPr id="117" name="Google Shape;117;p18" title="ChatGPT Image 13. Aug. 2026, 11_13_0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25744" y="4348731"/>
            <a:ext cx="622526" cy="6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167" y="246244"/>
            <a:ext cx="4024924" cy="477063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4942425" y="1753607"/>
            <a:ext cx="3700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92% on-time delivery across ~96.5K deliveries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~7.8k deliveries delayed, representing 8% of total</a:t>
            </a:r>
            <a:endParaRPr sz="1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4621125" y="371750"/>
            <a:ext cx="43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Percentage of </a:t>
            </a:r>
            <a:r>
              <a:rPr lang="tr" sz="1800">
                <a:solidFill>
                  <a:srgbClr val="CC4125"/>
                </a:solidFill>
                <a:latin typeface="Roboto Light"/>
                <a:ea typeface="Roboto Light"/>
                <a:cs typeface="Roboto Light"/>
                <a:sym typeface="Roboto Light"/>
              </a:rPr>
              <a:t>delayed deliveries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25" name="Google Shape;125;p19"/>
          <p:cNvCxnSpPr/>
          <p:nvPr/>
        </p:nvCxnSpPr>
        <p:spPr>
          <a:xfrm>
            <a:off x="5375475" y="3136245"/>
            <a:ext cx="28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" name="Google Shape;126;p19"/>
          <p:cNvSpPr/>
          <p:nvPr/>
        </p:nvSpPr>
        <p:spPr>
          <a:xfrm>
            <a:off x="6737775" y="3297814"/>
            <a:ext cx="109500" cy="18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/>
        </p:nvSpPr>
        <p:spPr>
          <a:xfrm>
            <a:off x="4621125" y="3756890"/>
            <a:ext cx="43428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92% of deliveries arrived on time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8% deliveries are delayed </a:t>
            </a:r>
            <a:endParaRPr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28" name="Google Shape;128;p19" title="ChatGPT Image 13. Aug. 2026, 11_13_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5744" y="4348731"/>
            <a:ext cx="622526" cy="6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5872000" y="282600"/>
            <a:ext cx="26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/>
              <a:t>Average </a:t>
            </a:r>
            <a:r>
              <a:rPr lang="tr" sz="1800">
                <a:solidFill>
                  <a:srgbClr val="A61C00"/>
                </a:solidFill>
              </a:rPr>
              <a:t>delay</a:t>
            </a:r>
            <a:r>
              <a:rPr lang="tr" sz="1800"/>
              <a:t> per Category</a:t>
            </a:r>
            <a:endParaRPr sz="1800"/>
          </a:p>
        </p:txBody>
      </p:sp>
      <p:sp>
        <p:nvSpPr>
          <p:cNvPr id="134" name="Google Shape;134;p20"/>
          <p:cNvSpPr txBox="1"/>
          <p:nvPr/>
        </p:nvSpPr>
        <p:spPr>
          <a:xfrm>
            <a:off x="5638749" y="1241344"/>
            <a:ext cx="3156300" cy="21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Two actors are major contributors to the delivery delays: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Eniac: Delays 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occur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when handing the customer order over to the postal service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Postal service: Delays occur during the delivery of the order to the customer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250" y="282600"/>
            <a:ext cx="4897074" cy="459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5667214" y="4059958"/>
            <a:ext cx="29319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Carrier service causes massive delays during the delivery process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>
            <a:off x="5716114" y="3590291"/>
            <a:ext cx="283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" name="Google Shape;138;p20"/>
          <p:cNvSpPr/>
          <p:nvPr/>
        </p:nvSpPr>
        <p:spPr>
          <a:xfrm>
            <a:off x="7078414" y="3751860"/>
            <a:ext cx="109500" cy="18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0" title="ChatGPT Image 13. Aug. 2026, 11_13_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5744" y="4348731"/>
            <a:ext cx="622526" cy="6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243915" y="306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3000"/>
              <a:t>Key Findings</a:t>
            </a:r>
            <a:endParaRPr sz="3000"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1567950" y="1770002"/>
            <a:ext cx="6008100" cy="14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Medium"/>
              <a:buChar char="●"/>
            </a:pP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Tech products performed worse than other product categories in recent months</a:t>
            </a:r>
            <a:endParaRPr sz="1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Medium"/>
              <a:buChar char="●"/>
            </a:pP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market for expensive tech products is relatively small</a:t>
            </a:r>
            <a:endParaRPr sz="11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 Medium"/>
              <a:buChar char="●"/>
            </a:pP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Delivery delays are often substantial rather than marginal</a:t>
            </a:r>
            <a:endParaRPr sz="1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1506150" y="4019335"/>
            <a:ext cx="613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tr" sz="1300" u="sng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Recommendation: Reassess the partnership opportunity in 6 months </a:t>
            </a:r>
            <a:endParaRPr sz="2200" u="sng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7" name="Google Shape;147;p21"/>
          <p:cNvCxnSpPr/>
          <p:nvPr/>
        </p:nvCxnSpPr>
        <p:spPr>
          <a:xfrm>
            <a:off x="2093400" y="3401725"/>
            <a:ext cx="530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1"/>
          <p:cNvSpPr/>
          <p:nvPr/>
        </p:nvSpPr>
        <p:spPr>
          <a:xfrm>
            <a:off x="4639614" y="3563300"/>
            <a:ext cx="109500" cy="18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1" title="ChatGPT Image 13. Aug. 2026, 11_13_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5744" y="4348731"/>
            <a:ext cx="622526" cy="62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309563"/>
            <a:ext cx="6400800" cy="45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7025" y="189175"/>
            <a:ext cx="2631700" cy="458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 txBox="1"/>
          <p:nvPr/>
        </p:nvSpPr>
        <p:spPr>
          <a:xfrm>
            <a:off x="6073125" y="1444875"/>
            <a:ext cx="308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dk2"/>
                </a:solidFill>
              </a:rPr>
              <a:t>Delays by state vs total orders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672" y="916725"/>
            <a:ext cx="3365400" cy="15806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6416" y="926350"/>
            <a:ext cx="3416974" cy="158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338450" y="106419"/>
            <a:ext cx="857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rgbClr val="3D85C6"/>
                </a:solidFill>
                <a:latin typeface="Roboto Light"/>
                <a:ea typeface="Roboto Light"/>
                <a:cs typeface="Roboto Light"/>
                <a:sym typeface="Roboto Light"/>
              </a:rPr>
              <a:t>Amount of (Tech-)</a:t>
            </a:r>
            <a:r>
              <a:rPr lang="tr" sz="1800">
                <a:solidFill>
                  <a:srgbClr val="3D85C6"/>
                </a:solidFill>
                <a:latin typeface="Roboto Light"/>
                <a:ea typeface="Roboto Light"/>
                <a:cs typeface="Roboto Light"/>
                <a:sym typeface="Roboto Light"/>
              </a:rPr>
              <a:t>Sellers</a:t>
            </a:r>
            <a:r>
              <a:rPr lang="tr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vs </a:t>
            </a:r>
            <a:r>
              <a:rPr lang="tr" sz="18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rPr>
              <a:t>Amount of (Tech-)</a:t>
            </a:r>
            <a:r>
              <a:rPr lang="tr" sz="18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rPr>
              <a:t>Orders</a:t>
            </a:r>
            <a:endParaRPr b="1" sz="1800">
              <a:solidFill>
                <a:schemeClr val="accent4"/>
              </a:solidFill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588971" y="2699546"/>
            <a:ext cx="35595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tr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Magist shows </a:t>
            </a:r>
            <a:r>
              <a:rPr lang="tr" sz="1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steady increase on its seller base</a:t>
            </a:r>
            <a:endParaRPr sz="10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tr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Total orders have shown a similar increase</a:t>
            </a:r>
            <a:endParaRPr sz="10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2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tr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Orders stagneting after December 2017</a:t>
            </a:r>
            <a:endParaRPr sz="10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69" name="Google Shape;16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0934" y="1148823"/>
            <a:ext cx="780237" cy="2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6220" y="1211437"/>
            <a:ext cx="780225" cy="24674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4462364" y="2636900"/>
            <a:ext cx="39378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tr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Tech sellers are growing similar to the total sellers.</a:t>
            </a:r>
            <a:endParaRPr sz="10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tr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 </a:t>
            </a:r>
            <a:r>
              <a:rPr lang="tr" sz="10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sharp drop after the end of 2017</a:t>
            </a:r>
            <a:r>
              <a:rPr lang="tr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with no visible recovery</a:t>
            </a:r>
            <a:endParaRPr sz="10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tr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Imbalance between sellers and buyers forming up</a:t>
            </a:r>
            <a:endParaRPr sz="10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21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 Light"/>
              <a:buChar char="●"/>
            </a:pPr>
            <a:r>
              <a:rPr lang="tr" sz="1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Indicating an unhealthy competition for Eniac</a:t>
            </a:r>
            <a:endParaRPr sz="10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438400" y="4198629"/>
            <a:ext cx="80637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Magist´s growth is driven by other categories and </a:t>
            </a: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tech items are not a focus point 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on the booming buyer and seller base.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 strong </a:t>
            </a:r>
            <a:r>
              <a:rPr lang="tr" sz="11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marketing and investment plan 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seems necessary from Magist focusing on tech categories. 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3259998" y="2197481"/>
            <a:ext cx="6771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7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Aug. 2018</a:t>
            </a:r>
            <a:endParaRPr sz="7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7444229" y="2141221"/>
            <a:ext cx="6771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7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Aug. 2018</a:t>
            </a:r>
            <a:endParaRPr sz="7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75" name="Google Shape;175;p24"/>
          <p:cNvCxnSpPr/>
          <p:nvPr/>
        </p:nvCxnSpPr>
        <p:spPr>
          <a:xfrm>
            <a:off x="908125" y="3757792"/>
            <a:ext cx="7429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24"/>
          <p:cNvSpPr/>
          <p:nvPr/>
        </p:nvSpPr>
        <p:spPr>
          <a:xfrm>
            <a:off x="4352875" y="3919361"/>
            <a:ext cx="109500" cy="182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466725"/>
            <a:ext cx="5715000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550" y="63050"/>
            <a:ext cx="2524000" cy="299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6"/>
          <p:cNvSpPr txBox="1"/>
          <p:nvPr/>
        </p:nvSpPr>
        <p:spPr>
          <a:xfrm>
            <a:off x="4621125" y="177075"/>
            <a:ext cx="434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dk2"/>
                </a:solidFill>
              </a:rPr>
              <a:t>92% of deliveries arrived on time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4621125" y="1509750"/>
            <a:ext cx="4342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tr" sz="1800">
                <a:solidFill>
                  <a:schemeClr val="dk2"/>
                </a:solidFill>
              </a:rPr>
              <a:t>92% on-time delivery across 96.5K deliveries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tr" sz="1800">
                <a:solidFill>
                  <a:schemeClr val="dk2"/>
                </a:solidFill>
              </a:rPr>
              <a:t>7.8k deliveries delayed, representing 8% of total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tr" sz="1800">
                <a:solidFill>
                  <a:schemeClr val="dk2"/>
                </a:solidFill>
              </a:rPr>
              <a:t>62% of al delays happened in just 3 states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513" y="2958425"/>
            <a:ext cx="3054075" cy="22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/>
          <p:nvPr/>
        </p:nvSpPr>
        <p:spPr>
          <a:xfrm>
            <a:off x="3866175" y="3499775"/>
            <a:ext cx="4972500" cy="129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7"/>
          <p:cNvSpPr/>
          <p:nvPr/>
        </p:nvSpPr>
        <p:spPr>
          <a:xfrm>
            <a:off x="3866175" y="1969925"/>
            <a:ext cx="4972500" cy="134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7"/>
          <p:cNvSpPr/>
          <p:nvPr/>
        </p:nvSpPr>
        <p:spPr>
          <a:xfrm>
            <a:off x="3866175" y="652175"/>
            <a:ext cx="4972500" cy="113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88" y="624300"/>
            <a:ext cx="3365401" cy="204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73525"/>
            <a:ext cx="3416974" cy="217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/>
        </p:nvSpPr>
        <p:spPr>
          <a:xfrm>
            <a:off x="338450" y="67275"/>
            <a:ext cx="8103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Sellers vs Buyers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3775325" y="687375"/>
            <a:ext cx="49713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Magist shows steady increase on its seller base.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Total orders have shown a similar increase.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Orders stagneting after December 2017.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450" y="2952325"/>
            <a:ext cx="722075" cy="24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450" y="624300"/>
            <a:ext cx="659000" cy="208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 txBox="1"/>
          <p:nvPr/>
        </p:nvSpPr>
        <p:spPr>
          <a:xfrm>
            <a:off x="3820750" y="1998875"/>
            <a:ext cx="49713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Tech sellers are growing similarly.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 sharp drop happening after the end of 2017 with no visible recovery.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Imbalance between sellers and buyers forming up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Light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Indicating an unhealthy competition for Eniac.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3775325" y="3597175"/>
            <a:ext cx="4971300" cy="12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Magist´s growth is driven by other categories and </a:t>
            </a:r>
            <a:r>
              <a:rPr b="1" lang="t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tech items are not a focus point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on the booming buyer and seller base.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 strong </a:t>
            </a:r>
            <a:r>
              <a:rPr b="1" lang="t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marketing and investment plan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seems necessary from Magist focusing on tech categories. </a:t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5" name="Google Shape;205;p27"/>
          <p:cNvSpPr/>
          <p:nvPr/>
        </p:nvSpPr>
        <p:spPr>
          <a:xfrm>
            <a:off x="104250" y="33675"/>
            <a:ext cx="567600" cy="528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152400" y="182875"/>
            <a:ext cx="54501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tr" sz="1420"/>
              <a:t>Sellers vs Orders</a:t>
            </a:r>
            <a:br>
              <a:rPr b="1" lang="tr" sz="1420"/>
            </a:br>
            <a:br>
              <a:rPr b="1" lang="tr" sz="1420"/>
            </a:br>
            <a:r>
              <a:rPr lang="tr" sz="1420"/>
              <a:t>Tech Category</a:t>
            </a:r>
            <a:endParaRPr sz="1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1420"/>
          </a:p>
        </p:txBody>
      </p:sp>
      <p:sp>
        <p:nvSpPr>
          <p:cNvPr id="211" name="Google Shape;211;p28"/>
          <p:cNvSpPr txBox="1"/>
          <p:nvPr/>
        </p:nvSpPr>
        <p:spPr>
          <a:xfrm>
            <a:off x="5204725" y="372075"/>
            <a:ext cx="3773100" cy="44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12" name="Google Shape;21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50" y="1118275"/>
            <a:ext cx="4758848" cy="334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125" y="1173075"/>
            <a:ext cx="995325" cy="3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8751"/>
            <a:ext cx="4572001" cy="3007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A strong </a:t>
            </a:r>
            <a:r>
              <a:rPr b="1" lang="tr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marketing and investment plan</a:t>
            </a:r>
            <a:r>
              <a:rPr lang="tr" sz="11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 seems necessary from Magist focusing on tech categories.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